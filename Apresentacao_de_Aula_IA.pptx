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itter Medium"/>
      <p:regular r:id="rId17"/>
    </p:embeddedFont>
    <p:embeddedFont>
      <p:font typeface="Bitter Medium"/>
      <p:regular r:id="rId18"/>
    </p:embeddedFont>
    <p:embeddedFont>
      <p:font typeface="Bitter Medium"/>
      <p:regular r:id="rId19"/>
    </p:embeddedFont>
    <p:embeddedFont>
      <p:font typeface="Bitter Medium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Propriedades da Multiplicação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Estratégias para calcular rápido (sem suar!)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4983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 Problema Provocador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407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2600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 conta:</a:t>
            </a:r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4 × 17 × 25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55675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❌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Lado A (Difícil)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455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× 17 = 68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124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 depois 68 × 25?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794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Ufa... trabalhoso!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040737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Lado B (Esperto)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6295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× 25 = 100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19647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 depois 100 × 17 =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1.700!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763453"/>
            <a:ext cx="62447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Genial!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🎯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1015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highlight>
                  <a:srgbClr val="FBE2D1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propriedade associativa nos permite mudar a ordem e facilitar a vida!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810" y="2887980"/>
            <a:ext cx="1668780" cy="2453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4143" y="807720"/>
            <a:ext cx="6148268" cy="68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Propriedade Associativa</a:t>
            </a:r>
            <a:endParaRPr lang="en-US" sz="4250" dirty="0"/>
          </a:p>
        </p:txBody>
      </p:sp>
      <p:sp>
        <p:nvSpPr>
          <p:cNvPr id="5" name="Shape 1"/>
          <p:cNvSpPr/>
          <p:nvPr/>
        </p:nvSpPr>
        <p:spPr>
          <a:xfrm>
            <a:off x="764143" y="1805226"/>
            <a:ext cx="3702725" cy="2812375"/>
          </a:xfrm>
          <a:prstGeom prst="roundRect">
            <a:avLst>
              <a:gd name="adj" fmla="val 326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90005" y="2031087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D2600F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146" y="2211110"/>
            <a:ext cx="294680" cy="2946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90005" y="2896195"/>
            <a:ext cx="3251002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Agrupar de forma esperta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990005" y="3704511"/>
            <a:ext cx="3251002" cy="685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pode mudar a ordem dos fatores para facilitar o cálculo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4677013" y="1805226"/>
            <a:ext cx="3702844" cy="2812375"/>
          </a:xfrm>
          <a:prstGeom prst="roundRect">
            <a:avLst>
              <a:gd name="adj" fmla="val 326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902875" y="2031087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D2600F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3016" y="2211110"/>
            <a:ext cx="294680" cy="2946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02875" y="2896195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Calcule em etapas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4902875" y="3363397"/>
            <a:ext cx="3251121" cy="102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Escolha a ordem que resulta em números redondos (10, 100, 1000...)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764143" y="4827746"/>
            <a:ext cx="7615714" cy="2594015"/>
          </a:xfrm>
          <a:prstGeom prst="roundRect">
            <a:avLst>
              <a:gd name="adj" fmla="val 353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990005" y="5053608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D2600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146" y="5233630"/>
            <a:ext cx="294680" cy="2946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90005" y="5918716"/>
            <a:ext cx="289417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 resultado é o mesmo</a:t>
            </a:r>
            <a:endParaRPr lang="en-US" sz="2100" dirty="0"/>
          </a:p>
        </p:txBody>
      </p:sp>
      <p:sp>
        <p:nvSpPr>
          <p:cNvPr id="19" name="Text 12"/>
          <p:cNvSpPr/>
          <p:nvPr/>
        </p:nvSpPr>
        <p:spPr>
          <a:xfrm>
            <a:off x="990005" y="6385917"/>
            <a:ext cx="7163991" cy="34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importa como agrupe, o produto final não muda!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990005" y="6854785"/>
            <a:ext cx="5199340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Retângulo (2 × 2) × 3 = Retângulo 2 × (2 × 3)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870" y="2343150"/>
            <a:ext cx="2232660" cy="35433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602105"/>
            <a:ext cx="64477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Propriedade Comutativa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2401610"/>
            <a:ext cx="53656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2600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 ordem dos fatores não altera o produto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33229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Retângulo 3 × 5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93790" y="390405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linhas e 5 colunas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93790" y="447103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 15 pinos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856321" y="33229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Retângulo 5 × 3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856321" y="390405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linhas e 3 colunas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856321" y="447103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 15 pinos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5293162"/>
            <a:ext cx="7556421" cy="1334333"/>
          </a:xfrm>
          <a:prstGeom prst="roundRect">
            <a:avLst>
              <a:gd name="adj" fmla="val 7140"/>
            </a:avLst>
          </a:prstGeom>
          <a:solidFill>
            <a:srgbClr val="FAD3B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644872"/>
            <a:ext cx="283488" cy="2268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30906" y="5576649"/>
            <a:ext cx="659249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💡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Dica: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Girar a forma não muda o tamanho! Você pode multiplicar na ordem que for mais fácil.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07413"/>
            <a:ext cx="65185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Propriedade Distributiva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006917"/>
            <a:ext cx="49028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2600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 "Arma Secreta" para cálculo mental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270140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3056453"/>
            <a:ext cx="3664744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7" name="Text 4"/>
          <p:cNvSpPr/>
          <p:nvPr/>
        </p:nvSpPr>
        <p:spPr>
          <a:xfrm>
            <a:off x="6280190" y="32307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Quebrar o número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80190" y="3721179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Divida um número grande em partes menores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171748" y="270140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171748" y="3056453"/>
            <a:ext cx="3664863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1" name="Text 8"/>
          <p:cNvSpPr/>
          <p:nvPr/>
        </p:nvSpPr>
        <p:spPr>
          <a:xfrm>
            <a:off x="10171748" y="3230761"/>
            <a:ext cx="35993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Multiplicar separadamente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171748" y="3721179"/>
            <a:ext cx="366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Calcule cada parte individualmente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484382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0190" y="5198864"/>
            <a:ext cx="7556421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5" name="Text 12"/>
          <p:cNvSpPr/>
          <p:nvPr/>
        </p:nvSpPr>
        <p:spPr>
          <a:xfrm>
            <a:off x="6280190" y="53731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Somar os resultados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80190" y="586359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todas as partes para o total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280190" y="6651665"/>
            <a:ext cx="7556421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Princípio: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Dividir para conquistar!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🎯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" y="2545080"/>
            <a:ext cx="2689860" cy="31394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31969" y="815816"/>
            <a:ext cx="5535335" cy="665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Distributiva na Prática</a:t>
            </a:r>
            <a:endParaRPr lang="en-US" sz="4150" dirty="0"/>
          </a:p>
        </p:txBody>
      </p:sp>
      <p:sp>
        <p:nvSpPr>
          <p:cNvPr id="5" name="Text 1"/>
          <p:cNvSpPr/>
          <p:nvPr/>
        </p:nvSpPr>
        <p:spPr>
          <a:xfrm>
            <a:off x="6231969" y="1561505"/>
            <a:ext cx="3195280" cy="399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D2600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Calcule: 6 × 14</a:t>
            </a:r>
            <a:endParaRPr lang="en-US" sz="25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969" y="2260997"/>
            <a:ext cx="1065014" cy="127801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7008" y="2474000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Quebre o 14</a:t>
            </a:r>
            <a:endParaRPr lang="en-US" sz="2050" dirty="0"/>
          </a:p>
        </p:txBody>
      </p:sp>
      <p:sp>
        <p:nvSpPr>
          <p:cNvPr id="8" name="Text 3"/>
          <p:cNvSpPr/>
          <p:nvPr/>
        </p:nvSpPr>
        <p:spPr>
          <a:xfrm>
            <a:off x="7497008" y="2926794"/>
            <a:ext cx="6387822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 = 10 + 4</a:t>
            </a:r>
            <a:endParaRPr lang="en-US" sz="16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969" y="3539014"/>
            <a:ext cx="1065014" cy="165961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97008" y="3752017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Multiplicar partes</a:t>
            </a:r>
            <a:endParaRPr lang="en-US" sz="2050" dirty="0"/>
          </a:p>
        </p:txBody>
      </p:sp>
      <p:sp>
        <p:nvSpPr>
          <p:cNvPr id="11" name="Text 5"/>
          <p:cNvSpPr/>
          <p:nvPr/>
        </p:nvSpPr>
        <p:spPr>
          <a:xfrm>
            <a:off x="7497008" y="4204811"/>
            <a:ext cx="6387822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× 10 = 60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7497008" y="4655225"/>
            <a:ext cx="6387822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× 4 = 24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969" y="5198626"/>
            <a:ext cx="1065014" cy="16596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97008" y="5411629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Somar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7497008" y="5864423"/>
            <a:ext cx="6387822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 + 24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7497008" y="6314837"/>
            <a:ext cx="6387822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= 84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6231969" y="7083266"/>
            <a:ext cx="7652861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Veja como fica fácil quando você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quebra o problema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 pedaços menores!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7033"/>
            <a:ext cx="100247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Três Propriedades, Três Superpoderes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139440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10337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Associativa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66475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Agrupar de forma esperta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6374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Mude a ordem para facilitar o cálculo. Agrupe os números que resultam em valores redondos!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139440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10337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Comutativa</a:t>
            </a:r>
            <a:endParaRPr lang="en-US" sz="2650" dirty="0"/>
          </a:p>
        </p:txBody>
      </p:sp>
      <p:sp>
        <p:nvSpPr>
          <p:cNvPr id="9" name="Text 5"/>
          <p:cNvSpPr/>
          <p:nvPr/>
        </p:nvSpPr>
        <p:spPr>
          <a:xfrm>
            <a:off x="5235893" y="466475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Girar não muda nada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235893" y="516374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ordem dos fatores não altera o produto. Use a ordem que for mais fácil de calcular!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139440"/>
            <a:ext cx="680442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410337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Distributiva</a:t>
            </a:r>
            <a:endParaRPr lang="en-US" sz="2650" dirty="0"/>
          </a:p>
        </p:txBody>
      </p:sp>
      <p:sp>
        <p:nvSpPr>
          <p:cNvPr id="13" name="Text 8"/>
          <p:cNvSpPr/>
          <p:nvPr/>
        </p:nvSpPr>
        <p:spPr>
          <a:xfrm>
            <a:off x="9677995" y="466475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Quebrar para vencer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677995" y="516374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Divida números grandes em partes menores. Calcule cada parte e some os resultados!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1214" y="445532"/>
            <a:ext cx="3785473" cy="47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Desafio Final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091214" y="1070134"/>
            <a:ext cx="7570946" cy="94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50"/>
              </a:lnSpc>
              <a:buNone/>
            </a:pPr>
            <a:r>
              <a:rPr lang="en-US" sz="5950" dirty="0">
                <a:solidFill>
                  <a:srgbClr val="D2600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Agora é sua vez!</a:t>
            </a:r>
            <a:endParaRPr lang="en-US" sz="5950" dirty="0"/>
          </a:p>
        </p:txBody>
      </p:sp>
      <p:sp>
        <p:nvSpPr>
          <p:cNvPr id="4" name="Shape 2"/>
          <p:cNvSpPr/>
          <p:nvPr/>
        </p:nvSpPr>
        <p:spPr>
          <a:xfrm>
            <a:off x="1982153" y="2168009"/>
            <a:ext cx="6880027" cy="4670108"/>
          </a:xfrm>
          <a:prstGeom prst="roundRect">
            <a:avLst>
              <a:gd name="adj" fmla="val 2334"/>
            </a:avLst>
          </a:prstGeom>
          <a:solidFill>
            <a:srgbClr val="FBE2D1"/>
          </a:solidFill>
          <a:ln/>
        </p:spPr>
      </p:sp>
      <p:sp>
        <p:nvSpPr>
          <p:cNvPr id="5" name="Text 3"/>
          <p:cNvSpPr/>
          <p:nvPr/>
        </p:nvSpPr>
        <p:spPr>
          <a:xfrm>
            <a:off x="2133481" y="3775234"/>
            <a:ext cx="2922032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Calcule mentalmente: 5 × 18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133481" y="4160163"/>
            <a:ext cx="6577370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Dica: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 a distributiva!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33481" y="4453057"/>
            <a:ext cx="6577370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× 18 = 5 × (10 + 8)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33481" y="4745950"/>
            <a:ext cx="6577370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× 10 + 5 × 8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33481" y="5038844"/>
            <a:ext cx="6577370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= ? + 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21008" y="2168009"/>
            <a:ext cx="3634740" cy="4670108"/>
          </a:xfrm>
          <a:prstGeom prst="roundRect">
            <a:avLst>
              <a:gd name="adj" fmla="val 2999"/>
            </a:avLst>
          </a:prstGeom>
          <a:solidFill>
            <a:srgbClr val="FBE2D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2337" y="2281714"/>
            <a:ext cx="3332083" cy="444269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91214" y="6951821"/>
            <a:ext cx="3415308" cy="832247"/>
          </a:xfrm>
          <a:prstGeom prst="roundRect">
            <a:avLst>
              <a:gd name="adj" fmla="val 7642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57782" y="7118390"/>
            <a:ext cx="1892737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Passo 1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2257782" y="7415570"/>
            <a:ext cx="3082171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× 10 = 50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07487" y="6951821"/>
            <a:ext cx="3415308" cy="832247"/>
          </a:xfrm>
          <a:prstGeom prst="roundRect">
            <a:avLst>
              <a:gd name="adj" fmla="val 7642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74055" y="7118390"/>
            <a:ext cx="1892737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Passo 2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774055" y="7415570"/>
            <a:ext cx="3082171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× 8 = 40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123759" y="6951821"/>
            <a:ext cx="3415308" cy="832247"/>
          </a:xfrm>
          <a:prstGeom prst="roundRect">
            <a:avLst>
              <a:gd name="adj" fmla="val 7642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90328" y="7118390"/>
            <a:ext cx="1892737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Resultado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9290328" y="7415570"/>
            <a:ext cx="3082171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 + 40 =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0925" y="679728"/>
            <a:ext cx="5221010" cy="652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Pratique Mais!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0925" y="1620679"/>
            <a:ext cx="3744873" cy="2335173"/>
          </a:xfrm>
          <a:prstGeom prst="roundRect">
            <a:avLst>
              <a:gd name="adj" fmla="val 375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7380" y="1837134"/>
            <a:ext cx="626507" cy="626507"/>
          </a:xfrm>
          <a:prstGeom prst="roundRect">
            <a:avLst>
              <a:gd name="adj" fmla="val 14593749"/>
            </a:avLst>
          </a:prstGeom>
          <a:solidFill>
            <a:srgbClr val="D2600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9664" y="2009418"/>
            <a:ext cx="281821" cy="2818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7380" y="2655927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Seu Caderno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47380" y="3097649"/>
            <a:ext cx="3311962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Crie 3 exemplos usando cada propriedade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68083" y="1620679"/>
            <a:ext cx="3744992" cy="2335173"/>
          </a:xfrm>
          <a:prstGeom prst="roundRect">
            <a:avLst>
              <a:gd name="adj" fmla="val 375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84539" y="1837134"/>
            <a:ext cx="626507" cy="626507"/>
          </a:xfrm>
          <a:prstGeom prst="roundRect">
            <a:avLst>
              <a:gd name="adj" fmla="val 14593749"/>
            </a:avLst>
          </a:prstGeom>
          <a:solidFill>
            <a:srgbClr val="D2600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6823" y="2009418"/>
            <a:ext cx="281821" cy="2818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4539" y="2655927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 um Amigo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4884539" y="3097649"/>
            <a:ext cx="3312081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Explique as propriedades em suas próprias palavras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30925" y="4148138"/>
            <a:ext cx="7682151" cy="2014299"/>
          </a:xfrm>
          <a:prstGeom prst="roundRect">
            <a:avLst>
              <a:gd name="adj" fmla="val 435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47380" y="4364593"/>
            <a:ext cx="626507" cy="626507"/>
          </a:xfrm>
          <a:prstGeom prst="roundRect">
            <a:avLst>
              <a:gd name="adj" fmla="val 14593749"/>
            </a:avLst>
          </a:prstGeom>
          <a:solidFill>
            <a:srgbClr val="D2600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9664" y="4536877"/>
            <a:ext cx="281821" cy="2818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47380" y="5183386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Desafio Extra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947380" y="5625108"/>
            <a:ext cx="724923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Calcule 4 × 23 usando distributiva mentalmente!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30925" y="6378654"/>
            <a:ext cx="7682151" cy="1171218"/>
          </a:xfrm>
          <a:prstGeom prst="roundRect">
            <a:avLst>
              <a:gd name="adj" fmla="val 7489"/>
            </a:avLst>
          </a:prstGeom>
          <a:solidFill>
            <a:srgbClr val="FAD3B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760" y="6693098"/>
            <a:ext cx="260985" cy="2088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09581" y="6623090"/>
            <a:ext cx="6794659" cy="64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🎯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Lembre-se: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Estas propriedades são ferramentas que tornam a matemática mais fácil e divertida!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26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Você Agora é um Mestre da Multiplicação!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3035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2908221"/>
            <a:ext cx="36614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Associativa: Agrupe esperto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39863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Mude a ordem para facilitar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2151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30906" y="4293037"/>
            <a:ext cx="2864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Comutativa: Gire livre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478345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ordem não muda o resultado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9998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677853"/>
            <a:ext cx="37104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Distributiva: Quebre e vença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16827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Divida em partes menores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786324"/>
            <a:ext cx="7556421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 e calcule como um campeão!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🏆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2026-02-01T00:29:43Z</dcterms:created>
  <dcterms:modified xsi:type="dcterms:W3CDTF">2026-02-01T00:29:43Z</dcterms:modified>
</cp:coreProperties>
</file>